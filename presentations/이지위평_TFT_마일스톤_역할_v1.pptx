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SAFE</a:t>
            </a:r>
            <a:pPr algn="l" indent="0" marL="0">
              <a:buNone/>
            </a:pPr>
            <a:r>
              <a:rPr lang="en-US" sz="2400" b="1" dirty="0">
                <a:solidFill>
                  <a:srgbClr val="2BB3A3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세이프지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3017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※ 임시 텍스트 로고 — 공식 로고 파일로 교체 예정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980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이지위평 TFT 통합 마일스톤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325880" y="3689604"/>
            <a:ext cx="9509760" cy="36576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453896" y="3447288"/>
            <a:ext cx="18288" cy="256032"/>
          </a:xfrm>
          <a:prstGeom prst="rect">
            <a:avLst/>
          </a:prstGeom>
          <a:solidFill>
            <a:srgbClr val="B7C0CE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2075688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12064" y="2121408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8E82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2025.10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설계·기획 확정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89888" y="3630168"/>
            <a:ext cx="146304" cy="146304"/>
          </a:xfrm>
          <a:prstGeom prst="ellipse">
            <a:avLst/>
          </a:prstGeom>
          <a:solidFill>
            <a:srgbClr val="1B2A4A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93136" y="3703320"/>
            <a:ext cx="18288" cy="256032"/>
          </a:xfrm>
          <a:prstGeom prst="rect">
            <a:avLst/>
          </a:prstGeom>
          <a:solidFill>
            <a:srgbClr val="2BB3A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96440" y="3959352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2BB3A3"/>
          </a:solidFill>
          <a:ln/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051304" y="4005072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7F5F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2025.11.16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사업 Go/No-Go 판단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AFBF8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대표님 의사결정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901696" y="3602736"/>
            <a:ext cx="201168" cy="201168"/>
          </a:xfrm>
          <a:prstGeom prst="ellipse">
            <a:avLst/>
          </a:prstGeom>
          <a:solidFill>
            <a:srgbClr val="2BB3A3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32376" y="3447288"/>
            <a:ext cx="18288" cy="256032"/>
          </a:xfrm>
          <a:prstGeom prst="rect">
            <a:avLst/>
          </a:prstGeom>
          <a:solidFill>
            <a:srgbClr val="2BB3A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535680" y="2075688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2BB3A3"/>
          </a:solidFill>
          <a:ln/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590544" y="2121408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7F5F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2025.11.23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배포 준비 확인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AFBF8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기술/운영 레디니스 체크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40936" y="3602736"/>
            <a:ext cx="201168" cy="201168"/>
          </a:xfrm>
          <a:prstGeom prst="ellipse">
            <a:avLst/>
          </a:prstGeom>
          <a:solidFill>
            <a:srgbClr val="2BB3A3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71616" y="3703320"/>
            <a:ext cx="18288" cy="256032"/>
          </a:xfrm>
          <a:prstGeom prst="rect">
            <a:avLst/>
          </a:prstGeom>
          <a:solidFill>
            <a:srgbClr val="B7C0CE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074920" y="3959352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129784" y="4005072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8E82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2025.11.26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제한 오픈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서비스 오픈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07608" y="3630168"/>
            <a:ext cx="146304" cy="146304"/>
          </a:xfrm>
          <a:prstGeom prst="ellipse">
            <a:avLst/>
          </a:prstGeom>
          <a:solidFill>
            <a:srgbClr val="1B2A4A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610856" y="3447288"/>
            <a:ext cx="18288" cy="256032"/>
          </a:xfrm>
          <a:prstGeom prst="rect">
            <a:avLst/>
          </a:prstGeom>
          <a:solidFill>
            <a:srgbClr val="B7C0C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14160" y="2075688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69024" y="2121408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8E82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2025.12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안정화 · 홍보 시작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546848" y="3630168"/>
            <a:ext cx="146304" cy="146304"/>
          </a:xfrm>
          <a:prstGeom prst="ellipse">
            <a:avLst/>
          </a:prstGeom>
          <a:solidFill>
            <a:srgbClr val="1B2A4A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150096" y="3703320"/>
            <a:ext cx="18288" cy="256032"/>
          </a:xfrm>
          <a:prstGeom prst="rect">
            <a:avLst/>
          </a:prstGeom>
          <a:solidFill>
            <a:srgbClr val="B7C0C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153400" y="3959352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08264" y="4005072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8E82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2027.01.22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확대 심사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(제안)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086088" y="3630168"/>
            <a:ext cx="146304" cy="146304"/>
          </a:xfrm>
          <a:prstGeom prst="ellipse">
            <a:avLst/>
          </a:prstGeom>
          <a:solidFill>
            <a:srgbClr val="1B2A4A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0689336" y="3447288"/>
            <a:ext cx="18288" cy="256032"/>
          </a:xfrm>
          <a:prstGeom prst="rect">
            <a:avLst/>
          </a:prstGeom>
          <a:solidFill>
            <a:srgbClr val="B7C0CE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692640" y="2075688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747504" y="2121408"/>
            <a:ext cx="1901952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8E82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2027.02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실질 업무 인입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상담 · 계약 시작 (제안)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625328" y="3630168"/>
            <a:ext cx="146304" cy="146304"/>
          </a:xfrm>
          <a:prstGeom prst="ellipse">
            <a:avLst/>
          </a:prstGeom>
          <a:solidFill>
            <a:srgbClr val="1B2A4A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실질적 고객 접점·업무 인입은 2월경 예상 (현실 반영).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59618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/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B3A3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■ 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 의사결정·게이트 (11/16 판단 → 11/23 레디니스)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SAFE</a:t>
            </a:r>
            <a:pPr algn="l" indent="0" marL="0">
              <a:buNone/>
            </a:pPr>
            <a:r>
              <a:rPr lang="en-US" sz="2400" b="1" dirty="0">
                <a:solidFill>
                  <a:srgbClr val="2BB3A3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세이프지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3017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※ 임시 텍스트 로고 — 공식 로고 파일로 교체 예정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980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이지위평 TFT 4인 역할·책임 + 개발사 구분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463040"/>
            <a:ext cx="5394960" cy="475488"/>
          </a:xfrm>
          <a:prstGeom prst="roundRect">
            <a:avLst>
              <a:gd name="adj" fmla="val 15385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700784"/>
            <a:ext cx="5394960" cy="23774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4813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경영지원</a:t>
            </a:r>
            <a:pPr algn="l" indent="0" marL="0">
              <a:buNone/>
            </a:pPr>
            <a:r>
              <a:rPr lang="en-US" sz="1600" b="1" dirty="0">
                <a:solidFill>
                  <a:srgbClr val="D7F5F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·  이채원 본부장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011680"/>
            <a:ext cx="499262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예산 · 계약 · 행정 지원</a:t>
            </a:r>
            <a:endParaRPr lang="en-US" sz="160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법무 / 내부 승인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09360" y="14630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09360" y="1463040"/>
            <a:ext cx="5394960" cy="475488"/>
          </a:xfrm>
          <a:prstGeom prst="roundRect">
            <a:avLst>
              <a:gd name="adj" fmla="val 15385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09360" y="1700784"/>
            <a:ext cx="5394960" cy="23774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92240" y="14813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프로젝트 총괄</a:t>
            </a:r>
            <a:pPr algn="l" indent="0" marL="0">
              <a:buNone/>
            </a:pPr>
            <a:r>
              <a:rPr lang="en-US" sz="1600" b="1" dirty="0">
                <a:solidFill>
                  <a:srgbClr val="D7F5F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·  유창현 본부장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011680"/>
            <a:ext cx="499262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전체 일정 · 리스크 관리</a:t>
            </a:r>
            <a:endParaRPr lang="en-US" sz="160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사업 Go/No-Go 의사결정 지원</a:t>
            </a:r>
            <a:endParaRPr lang="en-US" sz="160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개발사 조율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29992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2999232"/>
            <a:ext cx="5394960" cy="475488"/>
          </a:xfrm>
          <a:prstGeom prst="roundRect">
            <a:avLst>
              <a:gd name="adj" fmla="val 15385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3236976"/>
            <a:ext cx="5394960" cy="23774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4008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마케팅</a:t>
            </a:r>
            <a:pPr algn="l" indent="0" marL="0">
              <a:buNone/>
            </a:pPr>
            <a:r>
              <a:rPr lang="en-US" sz="1600" b="1" dirty="0">
                <a:solidFill>
                  <a:srgbClr val="D7F5F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·  임희웅 연구원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547872"/>
            <a:ext cx="499262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홍보 기획 · 채널 운영</a:t>
            </a:r>
            <a:endParaRPr lang="en-US" sz="160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오픈 캠페인</a:t>
            </a:r>
            <a:endParaRPr lang="en-US" sz="160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고객 접점 콘텐츠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29992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4DAE4"/>
            </a:solidFill>
            <a:prstDash val="solid"/>
          </a:ln>
          <a:effectLst>
            <a:outerShdw sx="100000" sy="100000" kx="0" ky="0" algn="bl" rotWithShape="0" blurRad="50800" dist="25400" dir="5400000">
              <a:srgbClr val="9AA3B2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09360" y="2999232"/>
            <a:ext cx="5394960" cy="475488"/>
          </a:xfrm>
          <a:prstGeom prst="roundRect">
            <a:avLst>
              <a:gd name="adj" fmla="val 15385"/>
            </a:avLst>
          </a:prstGeom>
          <a:solidFill>
            <a:srgbClr val="2BB3A3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09360" y="3236976"/>
            <a:ext cx="5394960" cy="237744"/>
          </a:xfrm>
          <a:prstGeom prst="rect">
            <a:avLst/>
          </a:prstGeom>
          <a:solidFill>
            <a:srgbClr val="2BB3A3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49224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기술부 안전관리기술지원</a:t>
            </a:r>
            <a:pPr algn="l" indent="0" marL="0">
              <a:buNone/>
            </a:pPr>
            <a:r>
              <a:rPr lang="en-US" sz="1600" b="1" dirty="0">
                <a:solidFill>
                  <a:srgbClr val="D7F5F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·  정우영 책임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510528" y="3547872"/>
            <a:ext cx="499262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산업안전 콘텐츠 · 현장 적합성 검증</a:t>
            </a:r>
            <a:endParaRPr lang="en-US" sz="160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로챗 AI 결과 품질 검수 · 디몬스터 화면/출력 현장 관점 검수</a:t>
            </a:r>
            <a:endParaRPr lang="en-US" sz="16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※ 소프트웨어 개발 담당 아님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6268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개발사 구분 (외주 개발)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" y="4974336"/>
            <a:ext cx="3630168" cy="1517904"/>
          </a:xfrm>
          <a:prstGeom prst="roundRect">
            <a:avLst>
              <a:gd name="adj" fmla="val 4819"/>
            </a:avLst>
          </a:prstGeom>
          <a:solidFill>
            <a:srgbClr val="F7F9FC"/>
          </a:solidFill>
          <a:ln w="19050">
            <a:solidFill>
              <a:srgbClr val="2BB3A3"/>
            </a:solidFill>
            <a:prstDash val="solid"/>
          </a:ln>
          <a:effectLst>
            <a:outerShdw sx="100000" sy="100000" kx="0" ky="0" algn="bl" rotWithShape="0" blurRad="38100" dist="12700" dir="5400000">
              <a:srgbClr val="9AA3B2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40080" y="5084064"/>
            <a:ext cx="3264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B3A3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로챗</a:t>
            </a:r>
            <a:endParaRPr lang="en-US" sz="190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이지위평 Lexia AI 개발</a:t>
            </a:r>
            <a:endParaRPr lang="en-US" sz="1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RAG · AI 결과 품질 · 폴백 · AI 콘텐츠 연동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4270248" y="4974336"/>
            <a:ext cx="3630168" cy="1517904"/>
          </a:xfrm>
          <a:prstGeom prst="roundRect">
            <a:avLst>
              <a:gd name="adj" fmla="val 4819"/>
            </a:avLst>
          </a:prstGeom>
          <a:solidFill>
            <a:srgbClr val="F7F9FC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38100" dist="12700" dir="5400000">
              <a:srgbClr val="9AA3B2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453128" y="5084064"/>
            <a:ext cx="3264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디몬스터</a:t>
            </a:r>
            <a:endParaRPr lang="en-US" sz="190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이지위평 매칭 플랫폼 개발</a:t>
            </a:r>
            <a:endParaRPr lang="en-US" sz="1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화면 · 관리자 · 데이터 · 분석 · 배포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8083296" y="4974336"/>
            <a:ext cx="3630168" cy="1517904"/>
          </a:xfrm>
          <a:prstGeom prst="roundRect">
            <a:avLst>
              <a:gd name="adj" fmla="val 4819"/>
            </a:avLst>
          </a:prstGeom>
          <a:solidFill>
            <a:srgbClr val="F7F9FC"/>
          </a:solidFill>
          <a:ln w="19050">
            <a:solidFill>
              <a:srgbClr val="6B4FA0"/>
            </a:solidFill>
            <a:prstDash val="solid"/>
          </a:ln>
          <a:effectLst>
            <a:outerShdw sx="100000" sy="100000" kx="0" ky="0" algn="bl" rotWithShape="0" blurRad="38100" dist="12700" dir="5400000">
              <a:srgbClr val="9AA3B2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266176" y="5084064"/>
            <a:ext cx="3264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6B4FA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양사 공동</a:t>
            </a:r>
            <a:endParaRPr lang="en-US" sz="190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공동 책임 영역</a:t>
            </a:r>
            <a:endParaRPr lang="en-US" sz="1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C3C3C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API 연동 · 통합 QA · 로그/모니터링 · 장애 대응 · 배포/백업/복구 검증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이지위평 TFT 마일스톤 &amp; 역할</dc:title>
  <dc:subject>PptxGenJS Presentation</dc:subject>
  <dc:creator>SafeG EZWEP TFT</dc:creator>
  <cp:lastModifiedBy>SafeG EZWEP TFT</cp:lastModifiedBy>
  <cp:revision>1</cp:revision>
  <dcterms:created xsi:type="dcterms:W3CDTF">2026-10-02T04:37:31Z</dcterms:created>
  <dcterms:modified xsi:type="dcterms:W3CDTF">2026-10-02T04:37:31Z</dcterms:modified>
</cp:coreProperties>
</file>