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이지위평 TFT 통합 마일스톤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SAFEG</a:t>
            </a:r>
            <a:pPr algn="r" indent="0" marL="0">
              <a:buNone/>
            </a:pPr>
            <a:r>
              <a:rPr lang="en-US" sz="1400" dirty="0">
                <a:solidFill>
                  <a:srgbClr val="AEC2E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세이프지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964131" cy="749808"/>
          </a:xfrm>
          <a:prstGeom prst="roundRect">
            <a:avLst>
              <a:gd name="adj" fmla="val 7317"/>
            </a:avLst>
          </a:prstGeom>
          <a:solidFill>
            <a:srgbClr val="162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3192" y="868680"/>
            <a:ext cx="1817827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10월</a:t>
            </a:r>
            <a:endParaRPr lang="en-US" sz="1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준비 · 설계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30475" y="868680"/>
            <a:ext cx="3764585" cy="749808"/>
          </a:xfrm>
          <a:prstGeom prst="roundRect">
            <a:avLst>
              <a:gd name="adj" fmla="val 7317"/>
            </a:avLst>
          </a:prstGeom>
          <a:solidFill>
            <a:srgbClr val="1629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03627" y="868680"/>
            <a:ext cx="3618281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11월</a:t>
            </a:r>
            <a:endParaRPr lang="en-US" sz="1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검증 · Go/No-Go · 제한 오픈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41364" y="868680"/>
            <a:ext cx="1391260" cy="749808"/>
          </a:xfrm>
          <a:prstGeom prst="roundRect">
            <a:avLst>
              <a:gd name="adj" fmla="val 7317"/>
            </a:avLst>
          </a:prstGeom>
          <a:solidFill>
            <a:srgbClr val="162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4516" y="868680"/>
            <a:ext cx="1244956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12월</a:t>
            </a:r>
            <a:endParaRPr lang="en-US" sz="1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안정화 · 홍보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78928" y="868680"/>
            <a:ext cx="2127809" cy="749808"/>
          </a:xfrm>
          <a:prstGeom prst="roundRect">
            <a:avLst>
              <a:gd name="adj" fmla="val 7317"/>
            </a:avLst>
          </a:prstGeom>
          <a:solidFill>
            <a:srgbClr val="1629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2080" y="868680"/>
            <a:ext cx="1981505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2027년 1월</a:t>
            </a:r>
            <a:endParaRPr lang="en-US" sz="1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리드 육성 · 확대 심사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53040" y="868680"/>
            <a:ext cx="1718615" cy="749808"/>
          </a:xfrm>
          <a:prstGeom prst="roundRect">
            <a:avLst>
              <a:gd name="adj" fmla="val 7317"/>
            </a:avLst>
          </a:prstGeom>
          <a:solidFill>
            <a:srgbClr val="1629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26192" y="868680"/>
            <a:ext cx="1572311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2027년 2월</a:t>
            </a:r>
            <a:endParaRPr lang="en-US" sz="1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상담 · 계약 본격화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02106" y="1728216"/>
            <a:ext cx="9710242" cy="0"/>
          </a:xfrm>
          <a:prstGeom prst="line">
            <a:avLst/>
          </a:prstGeom>
          <a:noFill/>
          <a:ln w="28575">
            <a:solidFill>
              <a:srgbClr val="0E9B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56386" y="1682496"/>
            <a:ext cx="91440" cy="91440"/>
          </a:xfrm>
          <a:prstGeom prst="ellipse">
            <a:avLst/>
          </a:prstGeom>
          <a:solidFill>
            <a:srgbClr val="0E9B96"/>
          </a:solidFill>
          <a:ln/>
        </p:spPr>
      </p:sp>
      <p:sp>
        <p:nvSpPr>
          <p:cNvPr id="17" name="Shape 15"/>
          <p:cNvSpPr/>
          <p:nvPr/>
        </p:nvSpPr>
        <p:spPr>
          <a:xfrm>
            <a:off x="4267048" y="1682496"/>
            <a:ext cx="91440" cy="91440"/>
          </a:xfrm>
          <a:prstGeom prst="ellipse">
            <a:avLst/>
          </a:prstGeom>
          <a:solidFill>
            <a:srgbClr val="0E9B9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1274" y="1682496"/>
            <a:ext cx="91440" cy="91440"/>
          </a:xfrm>
          <a:prstGeom prst="ellipse">
            <a:avLst/>
          </a:prstGeom>
          <a:solidFill>
            <a:srgbClr val="0E9B96"/>
          </a:solidFill>
          <a:ln/>
        </p:spPr>
      </p:sp>
      <p:sp>
        <p:nvSpPr>
          <p:cNvPr id="19" name="Shape 17"/>
          <p:cNvSpPr/>
          <p:nvPr/>
        </p:nvSpPr>
        <p:spPr>
          <a:xfrm>
            <a:off x="8897112" y="1682496"/>
            <a:ext cx="91440" cy="91440"/>
          </a:xfrm>
          <a:prstGeom prst="ellipse">
            <a:avLst/>
          </a:prstGeom>
          <a:solidFill>
            <a:srgbClr val="0E9B9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66628" y="1682496"/>
            <a:ext cx="91440" cy="91440"/>
          </a:xfrm>
          <a:prstGeom prst="ellipse">
            <a:avLst/>
          </a:prstGeom>
          <a:solidFill>
            <a:srgbClr val="0E9B96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1874520"/>
            <a:ext cx="1964131" cy="1161288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48056" y="1938528"/>
            <a:ext cx="1708099" cy="10332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6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10/7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오픈 정의·예산·TFT·2월 목표 확정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0040" y="3163824"/>
            <a:ext cx="1964131" cy="1161288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48056" y="3227832"/>
            <a:ext cx="1708099" cy="10332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6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10/16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MVP 범위 및 운영·마케팅 설계 잠금(Lock)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" y="4453128"/>
            <a:ext cx="1964131" cy="1161288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48056" y="4517136"/>
            <a:ext cx="1708099" cy="10332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6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10/30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제품·운영·홍보 준비 완료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430475" y="1874520"/>
            <a:ext cx="1818284" cy="18059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2558491" y="1938528"/>
            <a:ext cx="1562252" cy="16779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6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11/13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QA·UAT·파일럿·운영훈련 1차 판정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376776" y="1874520"/>
            <a:ext cx="1818284" cy="1805940"/>
          </a:xfrm>
          <a:prstGeom prst="roundRect">
            <a:avLst>
              <a:gd name="adj" fmla="val 2532"/>
            </a:avLst>
          </a:prstGeom>
          <a:solidFill>
            <a:srgbClr val="E7F4F3"/>
          </a:solidFill>
          <a:ln w="28575">
            <a:solidFill>
              <a:srgbClr val="0E9B96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504792" y="1938528"/>
            <a:ext cx="1562252" cy="16779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9B9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11/16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대표 최종 사업 Go/No-Go — 사업 오픈 여부 결정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430475" y="3808476"/>
            <a:ext cx="1818284" cy="1805940"/>
          </a:xfrm>
          <a:prstGeom prst="roundRect">
            <a:avLst>
              <a:gd name="adj" fmla="val 2532"/>
            </a:avLst>
          </a:prstGeom>
          <a:solidFill>
            <a:srgbClr val="FBF1E3"/>
          </a:solidFill>
          <a:ln w="19050">
            <a:solidFill>
              <a:srgbClr val="A85B17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2558491" y="3872484"/>
            <a:ext cx="1562252" cy="16779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A85B1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● 11/23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코드·콘텐츠 동결, 배포·백업·복구 준비 재확인 (신규 판단 아님)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376776" y="3808476"/>
            <a:ext cx="1818284" cy="1805940"/>
          </a:xfrm>
          <a:prstGeom prst="roundRect">
            <a:avLst>
              <a:gd name="adj" fmla="val 2532"/>
            </a:avLst>
          </a:prstGeom>
          <a:solidFill>
            <a:srgbClr val="E7F4F3"/>
          </a:solidFill>
          <a:ln w="28575">
            <a:solidFill>
              <a:srgbClr val="0E9B96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504792" y="3872484"/>
            <a:ext cx="1562252" cy="16779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9B9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11/26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제한 오픈 — 초청·승인 고객 및 검증 기능 중심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341364" y="1874520"/>
            <a:ext cx="1391260" cy="3739896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69380" y="1938528"/>
            <a:ext cx="1135228" cy="3611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6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12월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안정화 · 인지도 홍보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878928" y="1874520"/>
            <a:ext cx="2127809" cy="3739896"/>
          </a:xfrm>
          <a:prstGeom prst="roundRect">
            <a:avLst>
              <a:gd name="adj" fmla="val 2149"/>
            </a:avLst>
          </a:prstGeom>
          <a:solidFill>
            <a:srgbClr val="E7F4F3"/>
          </a:solidFill>
          <a:ln w="28575">
            <a:solidFill>
              <a:srgbClr val="0E9B96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006944" y="1938528"/>
            <a:ext cx="1871777" cy="3611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9B9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2027/1/22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상용 확대 준비도 심사 (게이트) — 서비스 안정성 · CS/정산 운영 · 운영부하 · 유효 리드/상담 파이프라인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153040" y="1874520"/>
            <a:ext cx="1718615" cy="3739896"/>
          </a:xfrm>
          <a:prstGeom prst="roundRect">
            <a:avLst>
              <a:gd name="adj" fmla="val 2660"/>
            </a:avLst>
          </a:prstGeom>
          <a:solidFill>
            <a:srgbClr val="E7F4F3"/>
          </a:solidFill>
          <a:ln w="28575">
            <a:solidFill>
              <a:srgbClr val="0E9B96"/>
            </a:solidFill>
            <a:prstDash val="solid"/>
          </a:ln>
          <a:effectLst>
            <a:outerShdw sx="100000" sy="100000" kx="0" ky="0" algn="bl" rotWithShape="0" blurRad="50800" dist="12700" dir="5400000">
              <a:srgbClr val="9AA5B1">
                <a:alpha val="2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10281056" y="1938528"/>
            <a:ext cx="1462583" cy="3611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9B9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2027/2/26</a:t>
            </a:r>
            <a:endParaRPr lang="en-US" sz="1800" dirty="0"/>
          </a:p>
          <a:p>
            <a:pPr algn="l"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상용화 성과 및 추가투자 심사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320040" y="56692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9B9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의사결정 게이트</a:t>
            </a:r>
            <a:pPr algn="l" indent="0" marL="0">
              <a:buNone/>
            </a:pPr>
            <a:r>
              <a:rPr lang="en-US" sz="1200" b="1" dirty="0">
                <a:solidFill>
                  <a:srgbClr val="A85B1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    ● 배포 준비 재확인 (신규 판단 아님)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5980176"/>
            <a:ext cx="11551615" cy="658368"/>
          </a:xfrm>
          <a:prstGeom prst="roundRect">
            <a:avLst>
              <a:gd name="adj" fmla="val 6944"/>
            </a:avLst>
          </a:prstGeom>
          <a:solidFill>
            <a:srgbClr val="F3F5F8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1208" y="5980176"/>
            <a:ext cx="11149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9B9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TFT 운영 원칙   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 1회 정례회의 · 차단 이슈 24시간 내 판단 · 게이트 체크리스트 운영 · ‘개발사 완료’와 ‘세이프지 사용 가능’을 분리 검수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TFT 4인 역할·책임 통합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SAFEG</a:t>
            </a:r>
            <a:pPr algn="r" indent="0" marL="0">
              <a:buNone/>
            </a:pPr>
            <a:r>
              <a:rPr lang="en-US" sz="1400" dirty="0">
                <a:solidFill>
                  <a:srgbClr val="AEC2E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세이프지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764460" cy="3968496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  <a:effectLst>
            <a:outerShdw sx="100000" sy="100000" kx="0" ky="0" algn="bl" rotWithShape="0" blurRad="63500" dist="19050" dir="5400000">
              <a:srgbClr val="9AA5B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96112"/>
            <a:ext cx="2764460" cy="822960"/>
          </a:xfrm>
          <a:prstGeom prst="roundRect">
            <a:avLst>
              <a:gd name="adj" fmla="val 6667"/>
            </a:avLst>
          </a:prstGeom>
          <a:solidFill>
            <a:srgbClr val="16294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591056"/>
            <a:ext cx="2764460" cy="128016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" y="896112"/>
            <a:ext cx="250842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경영지원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이채원 본부장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" y="1828800"/>
            <a:ext cx="24901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계약·결제·환불·세금계산서 업무 흐름 수립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개인정보 처리·보관·파기 항목 정리 (제안: 전문가 검토)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CS·민원·장애 대응 SOP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상담·계약·고객정보 관리대장 운영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9092" y="896112"/>
            <a:ext cx="2764460" cy="3968496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  <a:effectLst>
            <a:outerShdw sx="100000" sy="100000" kx="0" ky="0" algn="bl" rotWithShape="0" blurRad="63500" dist="19050" dir="5400000">
              <a:srgbClr val="9AA5B1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9092" y="896112"/>
            <a:ext cx="2764460" cy="822960"/>
          </a:xfrm>
          <a:prstGeom prst="roundRect">
            <a:avLst>
              <a:gd name="adj" fmla="val 6667"/>
            </a:avLst>
          </a:prstGeom>
          <a:solidFill>
            <a:srgbClr val="16294A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9092" y="1591056"/>
            <a:ext cx="2764460" cy="128016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77108" y="896112"/>
            <a:ext cx="250842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 총괄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유창현 본부장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95396" y="1828800"/>
            <a:ext cx="24901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오픈 범위·MVP·제외 범위 확정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개발사(로챗·디몬스터)·내부 부서 일정·이슈 통합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QA·UAT·파일럿·Go/No-Go 운영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대표 보고 및 잔여 위험 통제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78144" y="896112"/>
            <a:ext cx="2764460" cy="3968496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  <a:effectLst>
            <a:outerShdw sx="100000" sy="100000" kx="0" ky="0" algn="bl" rotWithShape="0" blurRad="63500" dist="19050" dir="5400000">
              <a:srgbClr val="9AA5B1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8144" y="896112"/>
            <a:ext cx="2764460" cy="822960"/>
          </a:xfrm>
          <a:prstGeom prst="roundRect">
            <a:avLst>
              <a:gd name="adj" fmla="val 6667"/>
            </a:avLst>
          </a:prstGeom>
          <a:solidFill>
            <a:srgbClr val="1629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8144" y="1591056"/>
            <a:ext cx="2764460" cy="128016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6160" y="896112"/>
            <a:ext cx="250842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마케팅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임희웅 연구원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1828800"/>
            <a:ext cx="24901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고객·문제·가치제안 정의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랜딩페이지·브로셔·소개서 제작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12월 인지도 → 1월 리드 → 2월 상담 퍼널 설계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문의 접수 ~ 담당자 인계 E2E 검증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07195" y="896112"/>
            <a:ext cx="2764460" cy="3968496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2700">
            <a:solidFill>
              <a:srgbClr val="D7DDE5"/>
            </a:solidFill>
            <a:prstDash val="solid"/>
          </a:ln>
          <a:effectLst>
            <a:outerShdw sx="100000" sy="100000" kx="0" ky="0" algn="bl" rotWithShape="0" blurRad="63500" dist="19050" dir="5400000">
              <a:srgbClr val="9AA5B1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07195" y="896112"/>
            <a:ext cx="2764460" cy="822960"/>
          </a:xfrm>
          <a:prstGeom prst="roundRect">
            <a:avLst>
              <a:gd name="adj" fmla="val 6667"/>
            </a:avLst>
          </a:prstGeom>
          <a:solidFill>
            <a:srgbClr val="16294A"/>
          </a:solidFill>
          <a:ln/>
        </p:spPr>
      </p:sp>
      <p:sp>
        <p:nvSpPr>
          <p:cNvPr id="22" name="Shape 20"/>
          <p:cNvSpPr/>
          <p:nvPr/>
        </p:nvSpPr>
        <p:spPr>
          <a:xfrm>
            <a:off x="9107195" y="1591056"/>
            <a:ext cx="2764460" cy="128016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35211" y="896112"/>
            <a:ext cx="250842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기술부 안전관리기술지원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정우영 책임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53499" y="1828800"/>
            <a:ext cx="24901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위험성평가 콘텐츠·현장 적합성 검증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안전 법령·콘텐츠 적정성 검수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로챗 Lexia AI 결과 품질 현장 관점 검수</a:t>
            </a:r>
            <a:endParaRPr lang="en-US" sz="1800" dirty="0"/>
          </a:p>
          <a:p>
            <a:pPr algn="l" marL="203200" indent="-2032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디몬스터 매칭 플랫폼 화면·출력 연동 검수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" y="4974336"/>
            <a:ext cx="11551615" cy="420624"/>
          </a:xfrm>
          <a:prstGeom prst="roundRect">
            <a:avLst>
              <a:gd name="adj" fmla="val 10870"/>
            </a:avLst>
          </a:prstGeom>
          <a:solidFill>
            <a:srgbClr val="E7F4F3"/>
          </a:solidFill>
          <a:ln w="15875">
            <a:solidFill>
              <a:srgbClr val="0E9B9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" y="4974336"/>
            <a:ext cx="111492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9B9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 </a:t>
            </a:r>
            <a:pPr algn="l" indent="0" marL="0">
              <a:buNone/>
            </a:pPr>
            <a:r>
              <a:rPr lang="en-US" sz="1800" b="1" dirty="0">
                <a:solidFill>
                  <a:srgbClr val="16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정우영 책임은 소프트웨어 개발 담당이 아니며, 산업안전 콘텐츠·현장 적합성 검증을 책임집니다.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0040" y="5522976"/>
            <a:ext cx="11551615" cy="1152144"/>
          </a:xfrm>
          <a:prstGeom prst="roundRect">
            <a:avLst>
              <a:gd name="adj" fmla="val 4762"/>
            </a:avLst>
          </a:prstGeom>
          <a:solidFill>
            <a:srgbClr val="F3F5F8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9496" y="56144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개발사 구분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" y="5980176"/>
            <a:ext cx="3582314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9B9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로챗</a:t>
            </a:r>
            <a:endParaRPr lang="en-US" sz="1600" dirty="0"/>
          </a:p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이지위평 Lexia AI 개발 (RAG · AI 결과 품질 · 폴백)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304690" y="5980176"/>
            <a:ext cx="3582314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2406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디몬스터</a:t>
            </a:r>
            <a:endParaRPr lang="en-US" sz="1600" dirty="0"/>
          </a:p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이지위평 매칭 플랫폼 개발 (화면 · 관리자 · 데이터 · 분석 · 배포)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069885" y="5980176"/>
            <a:ext cx="3582314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A85B1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공동</a:t>
            </a:r>
            <a:endParaRPr lang="en-US" sz="1600" dirty="0"/>
          </a:p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API 연동 · 통합 QA · 로그/모니터링 · 장애 대응 · 배포/백업/복구 검증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이지위평 TFT 마일스톤·역할</dc:title>
  <dc:subject>PptxGenJS Presentation</dc:subject>
  <dc:creator>SafeG EZWEP TFT</dc:creator>
  <cp:lastModifiedBy>SafeG EZWEP TFT</cp:lastModifiedBy>
  <cp:revision>1</cp:revision>
  <dcterms:created xsi:type="dcterms:W3CDTF">2026-10-02T03:10:05Z</dcterms:created>
  <dcterms:modified xsi:type="dcterms:W3CDTF">2026-10-02T03:10:05Z</dcterms:modified>
</cp:coreProperties>
</file>