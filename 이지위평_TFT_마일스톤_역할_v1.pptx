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</a:t>
            </a:r>
            <a:pPr algn="l" indent="0" marL="0">
              <a:buNone/>
            </a:pPr>
            <a:r>
              <a:rPr lang="en-US" sz="2000" b="1" dirty="0">
                <a:solidFill>
                  <a:srgbClr val="0A9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pPr algn="l" indent="0" marL="0">
              <a:buNone/>
            </a:pPr>
            <a:r>
              <a:rPr lang="en-US" sz="20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pPr algn="l" indent="0" marL="0">
              <a:buNone/>
            </a:pPr>
            <a:r>
              <a:rPr lang="en-US" sz="2000" b="1" dirty="0">
                <a:solidFill>
                  <a:srgbClr val="0A9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세이프지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3832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이지위평 TFT 통합 마일스톤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7863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EZWEP 서비스 론칭 · 경영진 보고용 추진 일정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0927080" cy="0"/>
          </a:xfrm>
          <a:prstGeom prst="line">
            <a:avLst/>
          </a:prstGeom>
          <a:noFill/>
          <a:ln w="25400">
            <a:solidFill>
              <a:srgbClr val="1C2E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3474720"/>
            <a:ext cx="0" cy="182880"/>
          </a:xfrm>
          <a:prstGeom prst="line">
            <a:avLst/>
          </a:prstGeom>
          <a:noFill/>
          <a:ln w="15875">
            <a:solidFill>
              <a:srgbClr val="C7D0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3312" y="3547872"/>
            <a:ext cx="219456" cy="219456"/>
          </a:xfrm>
          <a:prstGeom prst="ellipse">
            <a:avLst/>
          </a:prstGeom>
          <a:solidFill>
            <a:srgbClr val="1C2E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" y="141732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1C2E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0060" y="1874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준비·설계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" y="24414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확정,</a:t>
            </a:r>
            <a:endParaRPr lang="en-US" sz="18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개발·콘텐츠 설계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73580" y="3904488"/>
            <a:ext cx="2057400" cy="2203704"/>
          </a:xfrm>
          <a:prstGeom prst="roundRect">
            <a:avLst>
              <a:gd name="adj" fmla="val 3556"/>
            </a:avLst>
          </a:prstGeom>
          <a:solidFill>
            <a:srgbClr val="E4F1F1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76200" dist="25400" dir="5400000">
              <a:srgbClr val="8A97A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02280" y="3657600"/>
            <a:ext cx="0" cy="320040"/>
          </a:xfrm>
          <a:prstGeom prst="line">
            <a:avLst/>
          </a:prstGeom>
          <a:noFill/>
          <a:ln w="15875">
            <a:solidFill>
              <a:srgbClr val="C7D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544" y="3483864"/>
            <a:ext cx="347472" cy="347472"/>
          </a:xfrm>
          <a:prstGeom prst="ellipse">
            <a:avLst/>
          </a:prstGeom>
          <a:solidFill>
            <a:srgbClr val="0A939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9300" y="397764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0A93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019300" y="39776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11/16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019300" y="43799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게이트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019300" y="46360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Go/No-Go 결정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019300" y="5202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의사결정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512820" y="1344168"/>
            <a:ext cx="2057400" cy="2203704"/>
          </a:xfrm>
          <a:prstGeom prst="roundRect">
            <a:avLst>
              <a:gd name="adj" fmla="val 3556"/>
            </a:avLst>
          </a:prstGeom>
          <a:solidFill>
            <a:srgbClr val="E4F1F1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76200" dist="25400" dir="5400000">
              <a:srgbClr val="8A97A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41520" y="3474720"/>
            <a:ext cx="0" cy="182880"/>
          </a:xfrm>
          <a:prstGeom prst="line">
            <a:avLst/>
          </a:prstGeom>
          <a:noFill/>
          <a:ln w="15875">
            <a:solidFill>
              <a:srgbClr val="C7D0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67784" y="3483864"/>
            <a:ext cx="347472" cy="347472"/>
          </a:xfrm>
          <a:prstGeom prst="ellipse">
            <a:avLst/>
          </a:prstGeom>
          <a:solidFill>
            <a:srgbClr val="0A939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58540" y="141732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0A93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55854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558540" y="18196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게이트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558540" y="20756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준비 확인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558540" y="264261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배포·QA·장애대응</a:t>
            </a:r>
            <a:endParaRPr lang="en-US" sz="18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점검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80760" y="3657600"/>
            <a:ext cx="0" cy="320040"/>
          </a:xfrm>
          <a:prstGeom prst="line">
            <a:avLst/>
          </a:prstGeom>
          <a:noFill/>
          <a:ln w="15875">
            <a:solidFill>
              <a:srgbClr val="C7D0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71032" y="3547872"/>
            <a:ext cx="219456" cy="219456"/>
          </a:xfrm>
          <a:prstGeom prst="ellipse">
            <a:avLst/>
          </a:prstGeom>
          <a:solidFill>
            <a:srgbClr val="1C2E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97780" y="397764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1C2E5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97780" y="39776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5097780" y="4434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오픈 </a:t>
            </a:r>
            <a:pPr algn="ctr" indent="0" marL="0">
              <a:buNone/>
            </a:pPr>
            <a:r>
              <a:rPr lang="en-US" sz="18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(제안)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097780" y="50017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오픈일은</a:t>
            </a:r>
            <a:endParaRPr lang="en-US" sz="18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대표님 판단 사항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620000" y="3474720"/>
            <a:ext cx="0" cy="182880"/>
          </a:xfrm>
          <a:prstGeom prst="line">
            <a:avLst/>
          </a:prstGeom>
          <a:noFill/>
          <a:ln w="15875">
            <a:solidFill>
              <a:srgbClr val="C7D0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10272" y="3547872"/>
            <a:ext cx="219456" cy="219456"/>
          </a:xfrm>
          <a:prstGeom prst="ellipse">
            <a:avLst/>
          </a:prstGeom>
          <a:solidFill>
            <a:srgbClr val="1C2E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37020" y="141732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1C2E5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63702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637020" y="1874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안정화·홍보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6637020" y="24414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안정화,</a:t>
            </a:r>
            <a:endParaRPr lang="en-US" sz="18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연말 홍보 착수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159240" y="3657600"/>
            <a:ext cx="0" cy="320040"/>
          </a:xfrm>
          <a:prstGeom prst="line">
            <a:avLst/>
          </a:prstGeom>
          <a:noFill/>
          <a:ln w="15875">
            <a:solidFill>
              <a:srgbClr val="C7D0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49512" y="3547872"/>
            <a:ext cx="219456" cy="219456"/>
          </a:xfrm>
          <a:prstGeom prst="ellipse">
            <a:avLst/>
          </a:prstGeom>
          <a:solidFill>
            <a:srgbClr val="1C2E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76260" y="397764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1C2E5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176260" y="39776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'27년 1/22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8176260" y="4434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 심사 </a:t>
            </a:r>
            <a:pPr algn="ctr" indent="0" marL="0">
              <a:buNone/>
            </a:pPr>
            <a:r>
              <a:rPr lang="en-US" sz="18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(제안)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8176260" y="50017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제한운영 결과로</a:t>
            </a:r>
            <a:endParaRPr lang="en-US" sz="18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 판단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698480" y="3474720"/>
            <a:ext cx="0" cy="182880"/>
          </a:xfrm>
          <a:prstGeom prst="line">
            <a:avLst/>
          </a:prstGeom>
          <a:noFill/>
          <a:ln w="15875">
            <a:solidFill>
              <a:srgbClr val="C7D0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88752" y="3547872"/>
            <a:ext cx="219456" cy="219456"/>
          </a:xfrm>
          <a:prstGeom prst="ellipse">
            <a:avLst/>
          </a:prstGeom>
          <a:solidFill>
            <a:srgbClr val="1C2E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15500" y="141732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1C2E5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71550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'27년 2월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9715500" y="1874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상담·계약 본격화</a:t>
            </a: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9715500" y="24414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접점·업무</a:t>
            </a:r>
            <a:endParaRPr lang="en-US" sz="18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인입 본격화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48640" y="603504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C2E52"/>
          </a:solidFill>
          <a:ln/>
          <a:effectLst>
            <a:outerShdw sx="100000" sy="100000" kx="0" ky="0" algn="bl" rotWithShape="0" blurRad="76200" dist="25400" dir="5400000">
              <a:srgbClr val="8A97A8">
                <a:alpha val="35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822960" y="603504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홍보는 연말 착수 · 실질 업무 인입·고객 접점은 '27년 2월 전망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FD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11/26 오픈일 확정은 대표님 판단 필요 </a:t>
            </a:r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FD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(제안)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</a:t>
            </a:r>
            <a:pPr algn="l" indent="0" marL="0">
              <a:buNone/>
            </a:pPr>
            <a:r>
              <a:rPr lang="en-US" sz="2000" b="1" dirty="0">
                <a:solidFill>
                  <a:srgbClr val="0A9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pPr algn="l" indent="0" marL="0">
              <a:buNone/>
            </a:pPr>
            <a:r>
              <a:rPr lang="en-US" sz="20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pPr algn="l" indent="0" marL="0">
              <a:buNone/>
            </a:pPr>
            <a:r>
              <a:rPr lang="en-US" sz="2000" b="1" dirty="0">
                <a:solidFill>
                  <a:srgbClr val="0A9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세이프지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3832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TFT 역할·책임 통합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5440680" cy="2340864"/>
          </a:xfrm>
          <a:prstGeom prst="roundRect">
            <a:avLst>
              <a:gd name="adj" fmla="val 3125"/>
            </a:avLst>
          </a:prstGeom>
          <a:solidFill>
            <a:srgbClr val="F2F5F9"/>
          </a:solidFill>
          <a:ln w="12700">
            <a:solidFill>
              <a:srgbClr val="C7D0DC"/>
            </a:solidFill>
            <a:prstDash val="solid"/>
          </a:ln>
          <a:effectLst>
            <a:outerShdw sx="100000" sy="100000" kx="0" ky="0" algn="bl" rotWithShape="0" blurRad="76200" dist="25400" dir="5400000">
              <a:srgbClr val="8A97A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996696"/>
            <a:ext cx="457200" cy="45720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996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9784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  </a:t>
            </a:r>
            <a:pPr algn="l" indent="0" marL="0">
              <a:buNone/>
            </a:pPr>
            <a:r>
              <a:rPr lang="en-US" sz="18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이채원 본부장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2779776"/>
            <a:ext cx="4855464" cy="0"/>
          </a:xfrm>
          <a:prstGeom prst="line">
            <a:avLst/>
          </a:prstGeom>
          <a:noFill/>
          <a:ln w="12700">
            <a:solidFill>
              <a:srgbClr val="C7D0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83464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</a:t>
            </a:r>
            <a:pPr algn="l" indent="0" marL="0"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유창현 · </a:t>
            </a:r>
            <a:pPr algn="l" indent="0" marL="0">
              <a:buNone/>
            </a:pPr>
            <a:r>
              <a:rPr lang="en-US" sz="18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</a:t>
            </a:r>
            <a:pPr algn="l" indent="0" marL="0">
              <a:buNone/>
            </a:pPr>
            <a:r>
              <a:rPr lang="en-US" sz="1800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11/16 전 운영체계 승인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1353312"/>
            <a:ext cx="487375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운영 예산·계약 체계 확정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응대·상담 프로세스 수립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법무·개인정보·약관 검토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11/16 Go/No-Go 의사결정 자료 취합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63640" y="841248"/>
            <a:ext cx="5440680" cy="2340864"/>
          </a:xfrm>
          <a:prstGeom prst="roundRect">
            <a:avLst>
              <a:gd name="adj" fmla="val 3125"/>
            </a:avLst>
          </a:prstGeom>
          <a:solidFill>
            <a:srgbClr val="F2F5F9"/>
          </a:solidFill>
          <a:ln w="12700">
            <a:solidFill>
              <a:srgbClr val="C7D0DC"/>
            </a:solidFill>
            <a:prstDash val="solid"/>
          </a:ln>
          <a:effectLst>
            <a:outerShdw sx="100000" sy="100000" kx="0" ky="0" algn="bl" rotWithShape="0" blurRad="76200" dist="25400" dir="5400000">
              <a:srgbClr val="8A97A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83096" y="996696"/>
            <a:ext cx="457200" cy="45720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83096" y="996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50024" y="9784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총괄  </a:t>
            </a:r>
            <a:pPr algn="l" indent="0" marL="0">
              <a:buNone/>
            </a:pPr>
            <a:r>
              <a:rPr lang="en-US" sz="18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유창현 본부장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56248" y="2779776"/>
            <a:ext cx="4855464" cy="0"/>
          </a:xfrm>
          <a:prstGeom prst="line">
            <a:avLst/>
          </a:prstGeom>
          <a:noFill/>
          <a:ln w="12700">
            <a:solidFill>
              <a:srgbClr val="C7D0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56248" y="283464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</a:t>
            </a:r>
            <a:pPr algn="l" indent="0" marL="0"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TFT 전원 · </a:t>
            </a:r>
            <a:pPr algn="l" indent="0" marL="0">
              <a:buNone/>
            </a:pPr>
            <a:r>
              <a:rPr lang="en-US" sz="18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</a:t>
            </a:r>
            <a:pPr algn="l" indent="0" marL="0">
              <a:buNone/>
            </a:pPr>
            <a:r>
              <a:rPr lang="en-US" sz="1800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11/23 배포 준비 확인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74536" y="1353312"/>
            <a:ext cx="487375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일정·범위·리스크 총괄 관리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로챗·디몬스터 개발 진척 점검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11/23 배포 준비 상태 최종 확인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Go/No-Go·오픈 판단 근거 보고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218688"/>
            <a:ext cx="5440680" cy="2340864"/>
          </a:xfrm>
          <a:prstGeom prst="roundRect">
            <a:avLst>
              <a:gd name="adj" fmla="val 3125"/>
            </a:avLst>
          </a:prstGeom>
          <a:solidFill>
            <a:srgbClr val="F2F5F9"/>
          </a:solidFill>
          <a:ln w="12700">
            <a:solidFill>
              <a:srgbClr val="C7D0DC"/>
            </a:solidFill>
            <a:prstDash val="solid"/>
          </a:ln>
          <a:effectLst>
            <a:outerShdw sx="100000" sy="100000" kx="0" ky="0" algn="bl" rotWithShape="0" blurRad="76200" dist="25400" dir="5400000">
              <a:srgbClr val="8A97A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" y="3374136"/>
            <a:ext cx="457200" cy="45720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35024" y="33558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 </a:t>
            </a:r>
            <a:pPr algn="l" indent="0" marL="0">
              <a:buNone/>
            </a:pPr>
            <a:r>
              <a:rPr lang="en-US" sz="18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임희웅 연구원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41248" y="5157216"/>
            <a:ext cx="4855464" cy="0"/>
          </a:xfrm>
          <a:prstGeom prst="line">
            <a:avLst/>
          </a:prstGeom>
          <a:noFill/>
          <a:ln w="12700">
            <a:solidFill>
              <a:srgbClr val="C7D0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52120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</a:t>
            </a:r>
            <a:pPr algn="l" indent="0" marL="0"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이채원 · </a:t>
            </a:r>
            <a:pPr algn="l" indent="0" marL="0">
              <a:buNone/>
            </a:pPr>
            <a:r>
              <a:rPr lang="en-US" sz="18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</a:t>
            </a:r>
            <a:pPr algn="l" indent="0" marL="0">
              <a:buNone/>
            </a:pPr>
            <a:r>
              <a:rPr lang="en-US" sz="1800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착수·2월 리드 확보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" y="3730752"/>
            <a:ext cx="487375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채널·콘텐츠 기획(연말 착수)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랜딩·소개자료·브랜딩 제작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수집·고객 접점 설계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'27년 2월 상담 전환 캠페인 준비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63640" y="3218688"/>
            <a:ext cx="5440680" cy="2340864"/>
          </a:xfrm>
          <a:prstGeom prst="roundRect">
            <a:avLst>
              <a:gd name="adj" fmla="val 3125"/>
            </a:avLst>
          </a:prstGeom>
          <a:solidFill>
            <a:srgbClr val="F2F5F9"/>
          </a:solidFill>
          <a:ln w="12700">
            <a:solidFill>
              <a:srgbClr val="C7D0DC"/>
            </a:solidFill>
            <a:prstDash val="solid"/>
          </a:ln>
          <a:effectLst>
            <a:outerShdw sx="100000" sy="100000" kx="0" ky="0" algn="bl" rotWithShape="0" blurRad="76200" dist="25400" dir="5400000">
              <a:srgbClr val="8A97A8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83096" y="3374136"/>
            <a:ext cx="457200" cy="45720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3096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050024" y="33558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기술부 안전관리기술지원  </a:t>
            </a:r>
            <a:pPr algn="l" indent="0" marL="0">
              <a:buNone/>
            </a:pPr>
            <a:r>
              <a:rPr lang="en-US" sz="18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정우영 책임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050024" y="366674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(개발 담당 아님 · 콘텐츠·현장 적합성 검증)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56248" y="5157216"/>
            <a:ext cx="4855464" cy="0"/>
          </a:xfrm>
          <a:prstGeom prst="line">
            <a:avLst/>
          </a:prstGeom>
          <a:noFill/>
          <a:ln w="12700">
            <a:solidFill>
              <a:srgbClr val="C7D0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56248" y="52120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</a:t>
            </a:r>
            <a:pPr algn="l" indent="0" marL="0">
              <a:buNone/>
            </a:pPr>
            <a:r>
              <a:rPr lang="en-US" sz="18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로챗·디몬스터 · </a:t>
            </a:r>
            <a:pPr algn="l" indent="0" marL="0">
              <a:buNone/>
            </a:pPr>
            <a:r>
              <a:rPr lang="en-US" sz="1800" b="1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</a:t>
            </a:r>
            <a:pPr algn="l" indent="0" marL="0">
              <a:buNone/>
            </a:pPr>
            <a:r>
              <a:rPr lang="en-US" sz="1800" dirty="0">
                <a:solidFill>
                  <a:srgbClr val="05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 검증 완료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574536" y="3931920"/>
            <a:ext cx="48737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산업안전 콘텐츠 정확성·법적합성 검증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로챗 Lexia AI 결과 품질 현장 검수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디몬스터 화면·출력 데이터 적합성 확인</a:t>
            </a:r>
            <a:endParaRPr lang="en-US" sz="1800" dirty="0"/>
          </a:p>
          <a:p>
            <a:pPr algn="l" marL="177800" indent="-177800">
              <a:lnSpc>
                <a:spcPct val="96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시나리오 기반 검증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48640" y="568756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4223D"/>
          </a:solidFill>
          <a:ln/>
          <a:effectLst>
            <a:outerShdw sx="100000" sy="100000" kx="0" ky="0" algn="bl" rotWithShape="0" blurRad="76200" dist="25400" dir="5400000">
              <a:srgbClr val="8A97A8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22960" y="572414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</a:t>
            </a:r>
            <a:pPr algn="l" indent="0" marL="0">
              <a:buNone/>
            </a:pPr>
            <a:r>
              <a:rPr lang="en-US" sz="18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(개발 파트너 · TFT 비소속)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598017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D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로챗</a:t>
            </a:r>
            <a:pPr algn="l" indent="0" marL="0">
              <a:buNone/>
            </a:pPr>
            <a:r>
              <a:rPr lang="en-US" sz="1800" dirty="0">
                <a:solidFill>
                  <a:srgbClr val="E6EC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이지위평 Lexia AI 개발 · RAG·AI 결과 품질·폴백·콘텐츠 연동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619506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D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디몬스터</a:t>
            </a:r>
            <a:pPr algn="l" indent="0" marL="0">
              <a:buNone/>
            </a:pPr>
            <a:r>
              <a:rPr lang="en-US" sz="1800" dirty="0">
                <a:solidFill>
                  <a:srgbClr val="E6EC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이지위평 매칭 플랫폼 개발 · 화면·관리자·데이터·분석·배포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640994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D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양사 공동</a:t>
            </a:r>
            <a:pPr algn="l" indent="0" marL="0">
              <a:buNone/>
            </a:pPr>
            <a:r>
              <a:rPr lang="en-US" sz="1800" dirty="0">
                <a:solidFill>
                  <a:srgbClr val="E6EC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API 연동·통합 QA·모니터링 · 장애 대응·배포·백업·복구 검증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2026-10-02T02:58:05Z</dcterms:created>
  <dcterms:modified xsi:type="dcterms:W3CDTF">2026-10-02T02:58:05Z</dcterms:modified>
</cp:coreProperties>
</file>